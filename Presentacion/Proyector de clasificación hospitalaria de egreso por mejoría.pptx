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4DF543C-E556-4006-AF2B-8C13F12E28A3}" type="datetimeFigureOut">
              <a:rPr lang="es-MX" smtClean="0"/>
              <a:t>21/08/2026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BFE7B77-8BAF-4ADE-B32A-21AB62868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596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F543C-E556-4006-AF2B-8C13F12E28A3}" type="datetimeFigureOut">
              <a:rPr lang="es-MX" smtClean="0"/>
              <a:t>21/08/2026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ABFE7B77-8BAF-4ADE-B32A-21AB62868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4700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4DF543C-E556-4006-AF2B-8C13F12E28A3}" type="datetimeFigureOut">
              <a:rPr lang="es-MX" smtClean="0"/>
              <a:t>21/08/2026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BFE7B77-8BAF-4ADE-B32A-21AB62868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0673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F543C-E556-4006-AF2B-8C13F12E28A3}" type="datetimeFigureOut">
              <a:rPr lang="es-MX" smtClean="0"/>
              <a:t>21/08/2026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7B77-8BAF-4ADE-B32A-21AB62868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4790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F543C-E556-4006-AF2B-8C13F12E28A3}" type="datetimeFigureOut">
              <a:rPr lang="es-MX" smtClean="0"/>
              <a:t>21/08/2026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7B77-8BAF-4ADE-B32A-21AB62868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0911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F543C-E556-4006-AF2B-8C13F12E28A3}" type="datetimeFigureOut">
              <a:rPr lang="es-MX" smtClean="0"/>
              <a:t>21/08/2026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7B77-8BAF-4ADE-B32A-21AB62868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6610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F543C-E556-4006-AF2B-8C13F12E28A3}" type="datetimeFigureOut">
              <a:rPr lang="es-MX" smtClean="0"/>
              <a:t>21/08/2026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7B77-8BAF-4ADE-B32A-21AB62868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131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4DF543C-E556-4006-AF2B-8C13F12E28A3}" type="datetimeFigureOut">
              <a:rPr lang="es-MX" smtClean="0"/>
              <a:t>21/08/2026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BFE7B77-8BAF-4ADE-B32A-21AB62868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4974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F543C-E556-4006-AF2B-8C13F12E28A3}" type="datetimeFigureOut">
              <a:rPr lang="es-MX" smtClean="0"/>
              <a:t>21/08/2026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7B77-8BAF-4ADE-B32A-21AB62868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6396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F543C-E556-4006-AF2B-8C13F12E28A3}" type="datetimeFigureOut">
              <a:rPr lang="es-MX" smtClean="0"/>
              <a:t>21/08/2026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7B77-8BAF-4ADE-B32A-21AB62868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419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4DF543C-E556-4006-AF2B-8C13F12E28A3}" type="datetimeFigureOut">
              <a:rPr lang="es-MX" smtClean="0"/>
              <a:t>21/08/2026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BFE7B77-8BAF-4ADE-B32A-21AB62868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2615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4DF543C-E556-4006-AF2B-8C13F12E28A3}" type="datetimeFigureOut">
              <a:rPr lang="es-MX" smtClean="0"/>
              <a:t>21/08/2026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BFE7B77-8BAF-4ADE-B32A-21AB62868C72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60508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FEA5C9-E078-7118-95ED-56F637A87E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Proyecto de clasificación hospitalaria de egreso por mejoría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05BB2A-E617-FC17-5EB4-6017EC4D8A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Caso: </a:t>
            </a:r>
            <a:r>
              <a:rPr lang="es-MX" dirty="0" err="1"/>
              <a:t>gentera</a:t>
            </a:r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46C62A-3D7F-B151-98F3-5FCB2EC600FA}"/>
              </a:ext>
            </a:extLst>
          </p:cNvPr>
          <p:cNvSpPr txBox="1"/>
          <p:nvPr/>
        </p:nvSpPr>
        <p:spPr>
          <a:xfrm>
            <a:off x="9009530" y="5870724"/>
            <a:ext cx="2565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Luis Alberto Rueda Tapia</a:t>
            </a:r>
          </a:p>
        </p:txBody>
      </p:sp>
    </p:spTree>
    <p:extLst>
      <p:ext uri="{BB962C8B-B14F-4D97-AF65-F5344CB8AC3E}">
        <p14:creationId xmlns:p14="http://schemas.microsoft.com/office/powerpoint/2010/main" val="371508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D869C-96C9-9033-0BF5-85F6550B5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Origen del requisito: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931814-F22A-4619-A3E0-C60DE9C7B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013800"/>
          </a:xfrm>
        </p:spPr>
        <p:txBody>
          <a:bodyPr/>
          <a:lstStyle/>
          <a:p>
            <a:r>
              <a:rPr lang="es-MX" dirty="0">
                <a:solidFill>
                  <a:schemeClr val="tx1"/>
                </a:solidFill>
              </a:rPr>
              <a:t>Se busca poder hacer la clasificación de aquellos pacientes que egresaron por mejoría tomando en cuenta las variables existentes de 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6D4FAF0-1CC2-0E3A-D053-D8CA2FBFF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571111"/>
              </p:ext>
            </p:extLst>
          </p:nvPr>
        </p:nvGraphicFramePr>
        <p:xfrm>
          <a:off x="301272" y="3194297"/>
          <a:ext cx="6609416" cy="10248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0856">
                  <a:extLst>
                    <a:ext uri="{9D8B030D-6E8A-4147-A177-3AD203B41FA5}">
                      <a16:colId xmlns:a16="http://schemas.microsoft.com/office/drawing/2014/main" val="2298012358"/>
                    </a:ext>
                  </a:extLst>
                </a:gridCol>
                <a:gridCol w="600856">
                  <a:extLst>
                    <a:ext uri="{9D8B030D-6E8A-4147-A177-3AD203B41FA5}">
                      <a16:colId xmlns:a16="http://schemas.microsoft.com/office/drawing/2014/main" val="3991563848"/>
                    </a:ext>
                  </a:extLst>
                </a:gridCol>
                <a:gridCol w="600856">
                  <a:extLst>
                    <a:ext uri="{9D8B030D-6E8A-4147-A177-3AD203B41FA5}">
                      <a16:colId xmlns:a16="http://schemas.microsoft.com/office/drawing/2014/main" val="1890878773"/>
                    </a:ext>
                  </a:extLst>
                </a:gridCol>
                <a:gridCol w="600856">
                  <a:extLst>
                    <a:ext uri="{9D8B030D-6E8A-4147-A177-3AD203B41FA5}">
                      <a16:colId xmlns:a16="http://schemas.microsoft.com/office/drawing/2014/main" val="3456599952"/>
                    </a:ext>
                  </a:extLst>
                </a:gridCol>
                <a:gridCol w="600856">
                  <a:extLst>
                    <a:ext uri="{9D8B030D-6E8A-4147-A177-3AD203B41FA5}">
                      <a16:colId xmlns:a16="http://schemas.microsoft.com/office/drawing/2014/main" val="2788627439"/>
                    </a:ext>
                  </a:extLst>
                </a:gridCol>
                <a:gridCol w="600856">
                  <a:extLst>
                    <a:ext uri="{9D8B030D-6E8A-4147-A177-3AD203B41FA5}">
                      <a16:colId xmlns:a16="http://schemas.microsoft.com/office/drawing/2014/main" val="3106195886"/>
                    </a:ext>
                  </a:extLst>
                </a:gridCol>
                <a:gridCol w="600856">
                  <a:extLst>
                    <a:ext uri="{9D8B030D-6E8A-4147-A177-3AD203B41FA5}">
                      <a16:colId xmlns:a16="http://schemas.microsoft.com/office/drawing/2014/main" val="3322423251"/>
                    </a:ext>
                  </a:extLst>
                </a:gridCol>
                <a:gridCol w="600856">
                  <a:extLst>
                    <a:ext uri="{9D8B030D-6E8A-4147-A177-3AD203B41FA5}">
                      <a16:colId xmlns:a16="http://schemas.microsoft.com/office/drawing/2014/main" val="3769240888"/>
                    </a:ext>
                  </a:extLst>
                </a:gridCol>
                <a:gridCol w="600856">
                  <a:extLst>
                    <a:ext uri="{9D8B030D-6E8A-4147-A177-3AD203B41FA5}">
                      <a16:colId xmlns:a16="http://schemas.microsoft.com/office/drawing/2014/main" val="2973359022"/>
                    </a:ext>
                  </a:extLst>
                </a:gridCol>
                <a:gridCol w="600856">
                  <a:extLst>
                    <a:ext uri="{9D8B030D-6E8A-4147-A177-3AD203B41FA5}">
                      <a16:colId xmlns:a16="http://schemas.microsoft.com/office/drawing/2014/main" val="898298150"/>
                    </a:ext>
                  </a:extLst>
                </a:gridCol>
                <a:gridCol w="600856">
                  <a:extLst>
                    <a:ext uri="{9D8B030D-6E8A-4147-A177-3AD203B41FA5}">
                      <a16:colId xmlns:a16="http://schemas.microsoft.com/office/drawing/2014/main" val="4160644990"/>
                    </a:ext>
                  </a:extLst>
                </a:gridCol>
              </a:tblGrid>
              <a:tr h="612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u="none" strike="noStrike" dirty="0">
                          <a:effectLst/>
                        </a:rPr>
                        <a:t>DIAS_ESTANCIA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u="none" strike="noStrike" dirty="0">
                          <a:effectLst/>
                        </a:rPr>
                        <a:t>EDAD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GENERO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u="none" strike="noStrike" dirty="0">
                          <a:effectLst/>
                        </a:rPr>
                        <a:t>PESO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u="none" strike="noStrike" dirty="0">
                          <a:effectLst/>
                        </a:rPr>
                        <a:t>ALTURA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IMC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MES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u="none" strike="noStrike" dirty="0">
                          <a:effectLst/>
                        </a:rPr>
                        <a:t>ENTIDAD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INDIGENA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u="none" strike="noStrike" dirty="0">
                          <a:effectLst/>
                        </a:rPr>
                        <a:t>MOTIVO_EGRESO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u="none" strike="noStrike" dirty="0">
                          <a:effectLst/>
                        </a:rPr>
                        <a:t>CODIGO_ENFERMEDAD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1170791"/>
                  </a:ext>
                </a:extLst>
              </a:tr>
              <a:tr h="41223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1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23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2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63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147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29.154519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2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29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2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1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u="none" strike="noStrike" dirty="0">
                          <a:effectLst/>
                        </a:rPr>
                        <a:t>O809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5876641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90C6862-902F-DB28-F756-995FD4890D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795148"/>
              </p:ext>
            </p:extLst>
          </p:nvPr>
        </p:nvGraphicFramePr>
        <p:xfrm>
          <a:off x="7042690" y="3214159"/>
          <a:ext cx="4862683" cy="1024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4653">
                  <a:extLst>
                    <a:ext uri="{9D8B030D-6E8A-4147-A177-3AD203B41FA5}">
                      <a16:colId xmlns:a16="http://schemas.microsoft.com/office/drawing/2014/main" val="3373567460"/>
                    </a:ext>
                  </a:extLst>
                </a:gridCol>
                <a:gridCol w="2399031">
                  <a:extLst>
                    <a:ext uri="{9D8B030D-6E8A-4147-A177-3AD203B41FA5}">
                      <a16:colId xmlns:a16="http://schemas.microsoft.com/office/drawing/2014/main" val="2835398813"/>
                    </a:ext>
                  </a:extLst>
                </a:gridCol>
                <a:gridCol w="1978999">
                  <a:extLst>
                    <a:ext uri="{9D8B030D-6E8A-4147-A177-3AD203B41FA5}">
                      <a16:colId xmlns:a16="http://schemas.microsoft.com/office/drawing/2014/main" val="3321437260"/>
                    </a:ext>
                  </a:extLst>
                </a:gridCol>
              </a:tblGrid>
              <a:tr h="679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u="none" strike="noStrike" dirty="0">
                          <a:effectLst/>
                        </a:rPr>
                        <a:t>CODIGO_ENFERMEDAD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u="none" strike="noStrike" dirty="0">
                          <a:effectLst/>
                        </a:rPr>
                        <a:t>CODIGO_ENFERMEDAD_DESC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u="none" strike="noStrike" dirty="0">
                          <a:effectLst/>
                        </a:rPr>
                        <a:t>Tipo de Problema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26004441"/>
                  </a:ext>
                </a:extLst>
              </a:tr>
              <a:tr h="3451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A000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u="none" strike="noStrike" dirty="0">
                          <a:effectLst/>
                        </a:rPr>
                        <a:t>Cólera debido a Vibrio </a:t>
                      </a:r>
                      <a:r>
                        <a:rPr lang="es-MX" sz="1000" u="none" strike="noStrike" dirty="0" err="1">
                          <a:effectLst/>
                        </a:rPr>
                        <a:t>cholerae</a:t>
                      </a:r>
                      <a:r>
                        <a:rPr lang="es-MX" sz="1000" u="none" strike="noStrike" dirty="0">
                          <a:effectLst/>
                        </a:rPr>
                        <a:t> 01, biotipo </a:t>
                      </a:r>
                      <a:r>
                        <a:rPr lang="es-MX" sz="1000" u="none" strike="noStrike" dirty="0" err="1">
                          <a:effectLst/>
                        </a:rPr>
                        <a:t>cholerae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000" u="none" strike="noStrike" dirty="0">
                          <a:effectLst/>
                        </a:rPr>
                        <a:t>Ciertas enfermedades infecciosas y parasitarias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72655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71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5591A-D874-636A-D1EC-2B572FD8E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Observaciones en los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B72FBF-92C0-D966-220C-18DDEAAD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697175"/>
          </a:xfrm>
        </p:spPr>
        <p:txBody>
          <a:bodyPr/>
          <a:lstStyle/>
          <a:p>
            <a:r>
              <a:rPr lang="es-MX" dirty="0"/>
              <a:t>Se tiene un total de 19,894 datos cada uno con un ID distinto por lo que se asegura la independencia entre datos,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6CA1C83-32DC-B789-4E07-D729B8686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80" y="2877671"/>
            <a:ext cx="11699238" cy="286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791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B36A7-1E93-F650-A909-AA49E3C0F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316C1-DA54-47EF-CA6B-5DB84F375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Observaciones en los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274DC5-B104-7164-4341-C17839CD8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697175"/>
          </a:xfrm>
        </p:spPr>
        <p:txBody>
          <a:bodyPr/>
          <a:lstStyle/>
          <a:p>
            <a:r>
              <a:rPr lang="es-MX" dirty="0"/>
              <a:t>Se tiene un total de 19,894 datos cada uno con un ID distinto por lo que se asegura la independencia entre datos,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8677277-6CD2-0195-E5B4-F3E5A7B31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599" y="3342211"/>
            <a:ext cx="4578493" cy="274953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18D9DCC-884B-7C45-4DEB-AF113B7B1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448" y="3348307"/>
            <a:ext cx="4572396" cy="27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920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4F0A2-47FA-BB8F-371A-50081D268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FDC1CA-9576-EEA3-0127-CD910A573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Observaciones en los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D00720-1DFE-CAF7-0DDF-2386DE003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697175"/>
          </a:xfrm>
        </p:spPr>
        <p:txBody>
          <a:bodyPr>
            <a:normAutofit fontScale="85000" lnSpcReduction="10000"/>
          </a:bodyPr>
          <a:lstStyle/>
          <a:p>
            <a:r>
              <a:rPr lang="es-MX" dirty="0"/>
              <a:t>Se implemento una nueva columna llamada nivel de gravedad en función del tipo de problema (Esta columna es documentada con información de la OMS Global Health </a:t>
            </a:r>
            <a:r>
              <a:rPr lang="es-MX" dirty="0" err="1"/>
              <a:t>Estimates</a:t>
            </a:r>
            <a:r>
              <a:rPr lang="es-MX" dirty="0"/>
              <a:t> (2021) / INEGI Defunciones Registradas (2023) / IHME GBD)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8404EFD-D1FC-9FD4-316D-39C73AA93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973" y="2877671"/>
            <a:ext cx="7727227" cy="341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540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5B5745-3CC7-BB74-92C9-333E9592B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6" y="702155"/>
            <a:ext cx="3568661" cy="1269713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2"/>
                </a:solidFill>
              </a:rPr>
              <a:t>Numero de datos nulos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58EAAB7-50EC-724A-5962-69408D029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573" y="702156"/>
            <a:ext cx="5794718" cy="527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404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06E75-5184-3504-6B36-199F2FE26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A0CFE-9158-0241-2C3A-956D35568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Tamaño del muestreo y correlaciones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EF04A52-9DBD-3F42-1C7D-6F903A967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908" y="3512465"/>
            <a:ext cx="2996001" cy="149800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5E47A22-3DFF-7734-5938-47C765F95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86" y="2761708"/>
            <a:ext cx="5376599" cy="382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052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5B44C-9C08-8003-B124-63596530E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E81C6-6AE2-C847-3FDB-3325F54E6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Modelo base+ combinaciones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9ACFD58-6AE0-5DF5-4C14-E6E375CDC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469" y="2844687"/>
            <a:ext cx="9349061" cy="3839347"/>
          </a:xfrm>
          <a:prstGeom prst="rect">
            <a:avLst/>
          </a:prstGeom>
        </p:spPr>
      </p:pic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6A8CCFE1-B760-30D5-282F-C720F4169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1192" y="1967407"/>
            <a:ext cx="6077798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41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C37EE-8349-6564-B558-7DF00CC91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EB7A1-3EDE-BE76-0618-917CE3081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Resultados de los modelos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E00AE57-352E-63A7-9240-B1ADF259F4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31"/>
          <a:stretch>
            <a:fillRect/>
          </a:stretch>
        </p:blipFill>
        <p:spPr>
          <a:xfrm>
            <a:off x="1246294" y="1857829"/>
            <a:ext cx="9363648" cy="328421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03E52DD-D748-C997-49AA-82469D6AF8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22"/>
          <a:stretch>
            <a:fillRect/>
          </a:stretch>
        </p:blipFill>
        <p:spPr>
          <a:xfrm>
            <a:off x="1231775" y="4949371"/>
            <a:ext cx="9378167" cy="190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719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CA8CC-1CA3-73EA-8FA6-45EC8CB76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21F72-1FF6-698D-2EA2-7C1F2BA0B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Resultados de los modelos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59926E0-6F28-D02C-9DB2-5290EF3A3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759" y="2083862"/>
            <a:ext cx="5487166" cy="428684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EEA38A2-CDF4-2682-699A-E489A25ED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10" y="2614006"/>
            <a:ext cx="4467849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505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81E5D-DBB5-2956-5BD7-D73AF1919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4E64B-18F4-0021-068A-9786395D4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Optimización de </a:t>
            </a:r>
            <a:r>
              <a:rPr lang="es-MX" dirty="0" err="1"/>
              <a:t>hiperparametros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BF60F79-FEC5-D3DA-4876-E2B683309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490" y="1811202"/>
            <a:ext cx="8668960" cy="269595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106391E-39A6-B003-5DD8-274F6FA43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490" y="4311668"/>
            <a:ext cx="8573696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194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91D4A-97FF-6DAE-57A3-0EE0CB8D9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2376D8-F4FE-362C-DB29-A3F148F44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Resultados del modelo final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D6364DC-E84B-5582-79DE-E6D95DEAC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850" y="2315578"/>
            <a:ext cx="5709888" cy="404621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27A078B-6A1E-A21C-2769-715DA7CE4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32" y="2315578"/>
            <a:ext cx="5485733" cy="404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123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97E13-F0ED-FD5F-3C66-A910C2B31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D527F9-113B-D190-C62B-154C16CCD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Resultados del modelo final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BCD9040-7B48-CF96-F5A2-ACD92297B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642" y="2645034"/>
            <a:ext cx="9572458" cy="314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898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1E7A2-1975-96A5-A58F-130C6BE1C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65D65-C0A4-7342-2567-9FC333571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Calibración final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AEA9C33-D32E-B1A2-CC80-2431AEC64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630" y="2095250"/>
            <a:ext cx="8697539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8303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TM03457464[[fn=Dividendo]]</Template>
  <TotalTime>97</TotalTime>
  <Words>227</Words>
  <Application>Microsoft Office PowerPoint</Application>
  <PresentationFormat>Panorámica</PresentationFormat>
  <Paragraphs>48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Calibri</vt:lpstr>
      <vt:lpstr>Gill Sans MT</vt:lpstr>
      <vt:lpstr>Wingdings 2</vt:lpstr>
      <vt:lpstr>Dividendo</vt:lpstr>
      <vt:lpstr>Proyecto de clasificación hospitalaria de egreso por mejoría </vt:lpstr>
      <vt:lpstr>Origen del requisito:</vt:lpstr>
      <vt:lpstr>Observaciones en los datos</vt:lpstr>
      <vt:lpstr>Observaciones en los datos</vt:lpstr>
      <vt:lpstr>Observaciones en los datos</vt:lpstr>
      <vt:lpstr>Numero de datos nulos</vt:lpstr>
      <vt:lpstr>Tamaño del muestreo y correlaciones</vt:lpstr>
      <vt:lpstr>Modelo base+ combinaciones</vt:lpstr>
      <vt:lpstr>Resultados de los modelos</vt:lpstr>
      <vt:lpstr>Resultados de los modelos</vt:lpstr>
      <vt:lpstr>Optimización de hiperparametros</vt:lpstr>
      <vt:lpstr>Resultados del modelo final</vt:lpstr>
      <vt:lpstr>Resultados del modelo final</vt:lpstr>
      <vt:lpstr>Calibración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Alberto Rueda Tapia</dc:creator>
  <cp:lastModifiedBy>Luis Alberto Rueda Tapia</cp:lastModifiedBy>
  <cp:revision>15</cp:revision>
  <dcterms:created xsi:type="dcterms:W3CDTF">2026-08-21T20:37:38Z</dcterms:created>
  <dcterms:modified xsi:type="dcterms:W3CDTF">2026-08-21T22:15:06Z</dcterms:modified>
</cp:coreProperties>
</file>